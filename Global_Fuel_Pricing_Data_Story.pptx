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GLOBAL FUEL</a:t>
            </a:r>
          </a:p>
          <a:p>
            <a:pPr>
              <a:spcAft>
                <a:spcPts val="7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CEE0EC"/>
                </a:solidFill>
                <a:latin typeface="Aptos"/>
              </a:defRPr>
            </a:pPr>
            <a:r>
              <a:t>A data story of prices, taxes, income levels and subsidies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69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Dataset period: 6 Jan 2020 – 6 Apr 2026  |  84 countries  |  27,468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4434840"/>
            <a:ext cx="292608" cy="9144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75320" y="3886200"/>
            <a:ext cx="292608" cy="1463040"/>
          </a:xfrm>
          <a:prstGeom prst="rect">
            <a:avLst/>
          </a:prstGeom>
          <a:solidFill>
            <a:srgbClr val="F2B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78240" y="3246120"/>
            <a:ext cx="292608" cy="2103120"/>
          </a:xfrm>
          <a:prstGeom prst="rect">
            <a:avLst/>
          </a:prstGeom>
          <a:solidFill>
            <a:srgbClr val="598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1160" y="4069079"/>
            <a:ext cx="292608" cy="128016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84080" y="2788920"/>
            <a:ext cx="292608" cy="2560320"/>
          </a:xfrm>
          <a:prstGeom prst="rect">
            <a:avLst/>
          </a:prstGeom>
          <a:solidFill>
            <a:srgbClr val="F2B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87000" y="3520439"/>
            <a:ext cx="292608" cy="1828800"/>
          </a:xfrm>
          <a:prstGeom prst="rect">
            <a:avLst/>
          </a:prstGeom>
          <a:solidFill>
            <a:srgbClr val="598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789920" y="2240279"/>
            <a:ext cx="292608" cy="310896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6080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2B03E"/>
                </a:solidFill>
                <a:latin typeface="Aptos"/>
              </a:defRPr>
            </a:pPr>
            <a:r>
              <a:t>STORY-DRIVEN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8"/>
                </a:solidFill>
                <a:latin typeface="Aptos"/>
              </a:defRPr>
            </a:pPr>
            <a:r>
              <a:t>1. The question behind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9696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960120" cy="50292"/>
          </a:xfrm>
          <a:prstGeom prst="rect">
            <a:avLst/>
          </a:prstGeom>
          <a:solidFill>
            <a:srgbClr val="F2B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D6A7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9696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46634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• Why do fuel prices differ so widely across countries and regions?</a:t>
            </a:r>
          </a:p>
          <a:p>
            <a:pPr>
              <a:spcAft>
                <a:spcPts val="12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• How did average fuel prices move from 2020 through the available part of 2026?</a:t>
            </a:r>
          </a:p>
          <a:p>
            <a:pPr>
              <a:spcAft>
                <a:spcPts val="12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• How are taxes, income levels and subsidy categories associated with prices?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5087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9696"/>
                </a:solidFill>
                <a:latin typeface="Aptos"/>
              </a:defRPr>
            </a:pPr>
            <a:r>
              <a:t>Data &amp;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011680"/>
            <a:ext cx="539496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• 27,468 weekly records across 84 countries and 7 regions.</a:t>
            </a:r>
          </a:p>
          <a:p>
            <a:pPr>
              <a:spcAft>
                <a:spcPts val="12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• Fuel measures: petrol, diesel and LPG in USD per litre; Brent crude in USD; tax percentage and subsidy category.</a:t>
            </a:r>
          </a:p>
          <a:p>
            <a:pPr>
              <a:spcAft>
                <a:spcPts val="12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• Compare group averages and annual averages; use correlation as association, not proof of cause.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4652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D6A7A"/>
                </a:solidFill>
                <a:latin typeface="Aptos"/>
              </a:defRPr>
            </a:pPr>
            <a:r>
              <a:t>Source: supplied global_fuel_prices_Dataset(2).csv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8"/>
                </a:solidFill>
                <a:latin typeface="Aptos"/>
              </a:defRPr>
            </a:pPr>
            <a:r>
              <a:t>2. What the dataset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9696"/>
                </a:solidFill>
                <a:latin typeface="Aptos"/>
              </a:defRPr>
            </a:pPr>
            <a:r>
              <a:t>SCOPE &amp;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960120" cy="50292"/>
          </a:xfrm>
          <a:prstGeom prst="rect">
            <a:avLst/>
          </a:prstGeom>
          <a:solidFill>
            <a:srgbClr val="F2B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D6A7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009696"/>
                </a:solidFill>
                <a:latin typeface="Aptos"/>
              </a:defRPr>
            </a:pPr>
            <a:r>
              <a:t>27,468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12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D6A7A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600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009696"/>
                </a:solidFill>
                <a:latin typeface="Aptos"/>
              </a:defRPr>
            </a:pPr>
            <a:r>
              <a:t>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212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D6A7A"/>
                </a:solidFill>
                <a:latin typeface="Aptos"/>
              </a:defRPr>
            </a:pPr>
            <a:r>
              <a:t>countries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6002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00969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12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D6A7A"/>
                </a:solidFill>
                <a:latin typeface="Aptos"/>
              </a:defRPr>
            </a:pPr>
            <a:r>
              <a:t>regions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6002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009696"/>
                </a:solidFill>
                <a:latin typeface="Aptos"/>
              </a:defRPr>
            </a:pPr>
            <a:r>
              <a:t>2020–2026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2128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D6A7A"/>
                </a:solidFill>
                <a:latin typeface="Aptos"/>
              </a:defRPr>
            </a:pPr>
            <a:r>
              <a:t>2026 data ends 6 April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11F38"/>
                </a:solidFill>
                <a:latin typeface="Aptos"/>
              </a:defRPr>
            </a:pPr>
            <a:r>
              <a:t>Important reading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520440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The final year is partial, so its average is not a full-year result. The file contains no missing values in the checked columns. Tax and subsidy fields are treated as recorded categories/measurements; the dataset alone cannot prove policy causes.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303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D6A7A"/>
                </a:solidFill>
                <a:latin typeface="Aptos"/>
              </a:defRPr>
            </a:pPr>
            <a:r>
              <a:t>All findings below are descriptive averages from this file, not live market quotations.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44652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D6A7A"/>
                </a:solidFill>
                <a:latin typeface="Aptos"/>
              </a:defRPr>
            </a:pPr>
            <a:r>
              <a:t>Source: supplied global_fuel_prices_Dataset(2).csv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8"/>
                </a:solidFill>
                <a:latin typeface="Aptos"/>
              </a:defRPr>
            </a:pPr>
            <a:r>
              <a:t>3. Geography changes the price at the pump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9696"/>
                </a:solidFill>
                <a:latin typeface="Aptos"/>
              </a:defRPr>
            </a:pPr>
            <a:r>
              <a:t>GEOGRAPHIC DISPARITY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960120" cy="50292"/>
          </a:xfrm>
          <a:prstGeom prst="rect">
            <a:avLst/>
          </a:prstGeom>
          <a:solidFill>
            <a:srgbClr val="F2B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D6A7A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7" name="Picture 6" descr="regional_pe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94944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5544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9696"/>
                </a:solidFill>
                <a:latin typeface="Aptos"/>
              </a:defRPr>
            </a:pPr>
            <a:r>
              <a:t>What stands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057400"/>
            <a:ext cx="39319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Europe has the highest regional average petrol price: $3.70/L.</a:t>
            </a:r>
          </a:p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Middle East has the lowest regional average: $1.23/L.</a:t>
            </a:r>
          </a:p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Europe's average is about 3.0× the Middle East average.</a:t>
            </a:r>
          </a:p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Differences can reflect taxes, market structure, logistics and policy—not crude prices alone.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44652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D6A7A"/>
                </a:solidFill>
                <a:latin typeface="Aptos"/>
              </a:defRPr>
            </a:pPr>
            <a:r>
              <a:t>Source: supplied global_fuel_prices_Dataset(2).csv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8"/>
                </a:solidFill>
                <a:latin typeface="Aptos"/>
              </a:defRPr>
            </a:pPr>
            <a:r>
              <a:t>4. Country-level extremes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9696"/>
                </a:solidFill>
                <a:latin typeface="Aptos"/>
              </a:defRPr>
            </a:pPr>
            <a:r>
              <a:t>SAME PRODUCT, DIFFERENT PRICE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960120" cy="50292"/>
          </a:xfrm>
          <a:prstGeom prst="rect">
            <a:avLst/>
          </a:prstGeom>
          <a:solidFill>
            <a:srgbClr val="F2B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D6A7A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7" name="Picture 6" descr="country_extr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85800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43800" y="15544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9696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057400"/>
            <a:ext cx="4023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Lowest average-price examples include Venezuela, Iran, Libya, Algeria.</a:t>
            </a:r>
          </a:p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Highest average-price examples include Denmark, Singapore, Sweden, Switzerland.</a:t>
            </a:r>
          </a:p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These are dataset averages over the available observations, not a statement about today's pump price.</a:t>
            </a:r>
          </a:p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Country comparisons are more useful when paired with taxes, subsidies and income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44652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D6A7A"/>
                </a:solidFill>
                <a:latin typeface="Aptos"/>
              </a:defRPr>
            </a:pPr>
            <a:r>
              <a:t>Source: supplied global_fuel_prices_Dataset(2).csv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8"/>
                </a:solidFill>
                <a:latin typeface="Aptos"/>
              </a:defRPr>
            </a:pPr>
            <a:r>
              <a:t>5. Prices rose, eased, then climbed again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9696"/>
                </a:solidFill>
                <a:latin typeface="Aptos"/>
              </a:defRPr>
            </a:pPr>
            <a:r>
              <a:t>TEMPORAL TRENDS: ANNUAL AVERAGE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960120" cy="50292"/>
          </a:xfrm>
          <a:prstGeom prst="rect">
            <a:avLst/>
          </a:prstGeom>
          <a:solidFill>
            <a:srgbClr val="F2B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D6A7A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7" name="Picture 6" descr="annual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04088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5544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9696"/>
                </a:solidFill>
                <a:latin typeface="Aptos"/>
              </a:defRPr>
            </a:pPr>
            <a:r>
              <a:t>Story in the trend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057400"/>
            <a:ext cx="38404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Petrol average: $1.48/L in 2020 → $2.51/L in 2022.</a:t>
            </a:r>
          </a:p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It eased to $2.23/L in 2023, then rose again in later observations.</a:t>
            </a:r>
          </a:p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The partial 2026 average is $2.65/L; 2026 only runs through 6 April.</a:t>
            </a:r>
          </a:p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Diesel and LPG broadly follow the same direction in this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44652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D6A7A"/>
                </a:solidFill>
                <a:latin typeface="Aptos"/>
              </a:defRPr>
            </a:pPr>
            <a:r>
              <a:t>Source: supplied global_fuel_prices_Dataset(2).csv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8"/>
                </a:solidFill>
                <a:latin typeface="Aptos"/>
              </a:defRPr>
            </a:pPr>
            <a:r>
              <a:t>6. Taxation is associated with higher prices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9696"/>
                </a:solidFill>
                <a:latin typeface="Aptos"/>
              </a:defRPr>
            </a:pPr>
            <a:r>
              <a:t>TAXATION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960120" cy="50292"/>
          </a:xfrm>
          <a:prstGeom prst="rect">
            <a:avLst/>
          </a:prstGeom>
          <a:solidFill>
            <a:srgbClr val="F2B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D6A7A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7" name="Picture 6" descr="tax_vs_pe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04088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5544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9696"/>
                </a:solidFill>
                <a:latin typeface="Aptos"/>
              </a:defRPr>
            </a:pPr>
            <a:r>
              <a:t>What the data suggests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057400"/>
            <a:ext cx="38404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Petrol price and tax percentage show a positive correlation (r = 0.52).</a:t>
            </a:r>
          </a:p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In this dataset, observations with higher tax percentages tend to have higher petrol prices.</a:t>
            </a:r>
          </a:p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Correlation does not establish that tax alone caused the price difference.</a:t>
            </a:r>
          </a:p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A stronger policy study would compare countries over time and control for crude costs, exchange rates and subsidies.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44652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D6A7A"/>
                </a:solidFill>
                <a:latin typeface="Aptos"/>
              </a:defRPr>
            </a:pPr>
            <a:r>
              <a:t>Source: supplied global_fuel_prices_Dataset(2).csv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8"/>
                </a:solidFill>
                <a:latin typeface="Aptos"/>
              </a:defRPr>
            </a:pPr>
            <a:r>
              <a:t>7. Income level and fuel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9696"/>
                </a:solidFill>
                <a:latin typeface="Aptos"/>
              </a:defRPr>
            </a:pPr>
            <a:r>
              <a:t>ECONOMIC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960120" cy="50292"/>
          </a:xfrm>
          <a:prstGeom prst="rect">
            <a:avLst/>
          </a:prstGeom>
          <a:solidFill>
            <a:srgbClr val="F2B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D6A7A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7" name="Picture 6" descr="income_pe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5544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9696"/>
                </a:solidFill>
                <a:latin typeface="Aptos"/>
              </a:defRPr>
            </a:pPr>
            <a:r>
              <a:t>Key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057400"/>
            <a:ext cx="39319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High-income group average: $3.55/L.</a:t>
            </a:r>
          </a:p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Middle-income group average: $1.59/L.</a:t>
            </a:r>
          </a:p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Low-income group average: $1.39/L.</a:t>
            </a:r>
          </a:p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This is a group-level association; it does not mean income alone determines retail prices or affordability.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44652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D6A7A"/>
                </a:solidFill>
                <a:latin typeface="Aptos"/>
              </a:defRPr>
            </a:pPr>
            <a:r>
              <a:t>Source: supplied global_fuel_prices_Dataset(2).csv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8"/>
                </a:solidFill>
                <a:latin typeface="Aptos"/>
              </a:defRPr>
            </a:pPr>
            <a:r>
              <a:t>8. Subsidy categories and observed prices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9696"/>
                </a:solidFill>
                <a:latin typeface="Aptos"/>
              </a:defRPr>
            </a:pPr>
            <a:r>
              <a:t>GOVERNMENT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960120" cy="50292"/>
          </a:xfrm>
          <a:prstGeom prst="rect">
            <a:avLst/>
          </a:prstGeom>
          <a:solidFill>
            <a:srgbClr val="F2B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D6A7A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7" name="Picture 6" descr="subsidy_pe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5544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9696"/>
                </a:solidFill>
                <a:latin typeface="Aptos"/>
              </a:defRPr>
            </a:pPr>
            <a:r>
              <a:t>What stands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057400"/>
            <a:ext cx="39319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Very-high-subsidy group average: $0.15/L.</a:t>
            </a:r>
          </a:p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Low-subsidy group average: $3.45/L.</a:t>
            </a:r>
          </a:p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Lower average prices appear in the higher-subsidy categories in this dataset.</a:t>
            </a:r>
          </a:p>
          <a:p>
            <a:pPr>
              <a:spcAft>
                <a:spcPts val="12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This is not causal proof: subsidy labels may co-vary with country, tax policy and market conditions.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44652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D6A7A"/>
                </a:solidFill>
                <a:latin typeface="Aptos"/>
              </a:defRPr>
            </a:pPr>
            <a:r>
              <a:t>Source: supplied global_fuel_prices_Dataset(2).csv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8"/>
                </a:solidFill>
                <a:latin typeface="Aptos"/>
              </a:defRPr>
            </a:pPr>
            <a:r>
              <a:t>9. Petrol, diesel and LPG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9696"/>
                </a:solidFill>
                <a:latin typeface="Aptos"/>
              </a:defRPr>
            </a:pPr>
            <a:r>
              <a:t>FUEL-TYPE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960120" cy="50292"/>
          </a:xfrm>
          <a:prstGeom prst="rect">
            <a:avLst/>
          </a:prstGeom>
          <a:solidFill>
            <a:srgbClr val="F2B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D6A7A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7" name="Picture 6" descr="fuel_type_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76656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6459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9696"/>
                </a:solidFill>
                <a:latin typeface="Aptos"/>
              </a:defRPr>
            </a:pPr>
            <a:r>
              <a:t>Reading the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48840"/>
            <a:ext cx="402336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• Petrol overall mean: $2.28/L.</a:t>
            </a:r>
          </a:p>
          <a:p>
            <a:pPr>
              <a:spcAft>
                <a:spcPts val="12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• Diesel overall mean: $2.13/L.</a:t>
            </a:r>
          </a:p>
          <a:p>
            <a:pPr>
              <a:spcAft>
                <a:spcPts val="12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• LPG overall mean: $1.71/L.</a:t>
            </a:r>
          </a:p>
          <a:p>
            <a:pPr>
              <a:spcAft>
                <a:spcPts val="12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• Across the dataset, LPG is the lowest-priced of these three fuels on average.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44652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D6A7A"/>
                </a:solidFill>
                <a:latin typeface="Aptos"/>
              </a:defRPr>
            </a:pPr>
            <a:r>
              <a:t>Source: supplied global_fuel_prices_Dataset(2).csv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8"/>
                </a:solidFill>
                <a:latin typeface="Aptos"/>
              </a:defRPr>
            </a:pPr>
            <a:r>
              <a:t>10. Conclusions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9696"/>
                </a:solidFill>
                <a:latin typeface="Aptos"/>
              </a:defRPr>
            </a:pPr>
            <a:r>
              <a:t>FROM DATA TO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960120" cy="50292"/>
          </a:xfrm>
          <a:prstGeom prst="rect">
            <a:avLst/>
          </a:prstGeom>
          <a:solidFill>
            <a:srgbClr val="F2B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D6A7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9696"/>
                </a:solidFill>
                <a:latin typeface="Aptos"/>
              </a:defRPr>
            </a:pPr>
            <a:r>
              <a:t>What the story tells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3035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• Fuel prices differ sharply by region and country.</a:t>
            </a:r>
          </a:p>
          <a:p>
            <a:pPr>
              <a:spcAft>
                <a:spcPts val="12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• Annual averages show a rise after 2020, a dip in 2023, and higher readings afterward.</a:t>
            </a:r>
          </a:p>
          <a:p>
            <a:pPr>
              <a:spcAft>
                <a:spcPts val="12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• Tax percentage and subsidy category are meaningfully associated with observed prices.</a:t>
            </a:r>
          </a:p>
          <a:p>
            <a:pPr>
              <a:spcAft>
                <a:spcPts val="12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• Income groups also differ, but affordability requires income-to-fuel-cost measures—not price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508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9696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011680"/>
            <a:ext cx="52120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• Publish transparent fuel-price breakdowns: crude, refining, distribution, tax and subsidy.</a:t>
            </a:r>
          </a:p>
          <a:p>
            <a:pPr>
              <a:spcAft>
                <a:spcPts val="12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• Target support to vulnerable households and essential transport where needed.</a:t>
            </a:r>
          </a:p>
          <a:p>
            <a:pPr>
              <a:spcAft>
                <a:spcPts val="12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• Assess subsidies against fiscal cost, access and environmental goals.</a:t>
            </a:r>
          </a:p>
          <a:p>
            <a:pPr>
              <a:spcAft>
                <a:spcPts val="12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• Use monthly/weekly monitoring and control for exchange rates and crude benchmarks before causal claims.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4652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D6A7A"/>
                </a:solidFill>
                <a:latin typeface="Aptos"/>
              </a:defRPr>
            </a:pPr>
            <a:r>
              <a:t>Source: supplied global_fuel_prices_Dataset(2).csv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2B03E"/>
                </a:solidFill>
                <a:latin typeface="Aptos"/>
              </a:defRPr>
            </a:pPr>
            <a:r>
              <a:t>THE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Fuel prices are not just about oil.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24028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CEE0EC"/>
                </a:solidFill>
                <a:latin typeface="Aptos"/>
              </a:defRPr>
            </a:pPr>
            <a:r>
              <a:t>Geography, taxation, income context and government support all appear alongside large differences in observed prices.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2B03E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519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This is a descriptive analysis of the supplied file. 2026 is partial; fields are not independently verified here; correlations do not prove causation. Affordability also depends on household income and fuel consumption.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Thank you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